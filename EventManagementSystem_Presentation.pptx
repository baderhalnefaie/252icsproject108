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149840" y="-731520"/>
            <a:ext cx="164592" cy="3657600"/>
          </a:xfrm>
          <a:prstGeom prst="rect">
            <a:avLst/>
          </a:prstGeom>
          <a:solidFill>
            <a:srgbClr val="C97A1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10698480" y="-1097280"/>
            <a:ext cx="54864" cy="36576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108  •  Object-Oriented Programming in Java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5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console application for planning and validating campus events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822960" cy="45720"/>
          </a:xfrm>
          <a:prstGeom prst="rect">
            <a:avLst/>
          </a:prstGeom>
          <a:solidFill>
            <a:srgbClr val="C97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Badercodes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5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Fahd University of Petroleum and Minerals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28900" y="5989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11980" y="5989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/ Interfaces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95060" y="5989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978140" y="5989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Catalogued Venues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system for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scheduling, and inspecting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events held across the KFUPM campus.
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bound to four pieces of context — a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hosting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 precise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 window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keeps events in chronological order automatically and refuses to book a venue twice in the same time slot.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1691640"/>
            <a:ext cx="2240280" cy="1783080"/>
          </a:xfrm>
          <a:prstGeom prst="rect">
            <a:avLst/>
          </a:prstGeom>
          <a:solidFill>
            <a:srgbClr val="F7F8FB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0" y="1691640"/>
            <a:ext cx="73152" cy="1783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8562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17804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Cooperating packages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926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 · DEPARTMENTS · EVENTS · VENUES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464040" y="1691640"/>
            <a:ext cx="2240280" cy="1783080"/>
          </a:xfrm>
          <a:prstGeom prst="rect">
            <a:avLst/>
          </a:prstGeom>
          <a:solidFill>
            <a:srgbClr val="F7F8FB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64040" y="1691640"/>
            <a:ext cx="73152" cy="1783080"/>
          </a:xfrm>
          <a:prstGeom prst="rect">
            <a:avLst/>
          </a:prstGeom>
          <a:solidFill>
            <a:srgbClr val="C97A1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18562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9264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interfaces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0" y="2926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1 abstract base + 4 venue subclasses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3657600"/>
            <a:ext cx="2240280" cy="1783080"/>
          </a:xfrm>
          <a:prstGeom prst="rect">
            <a:avLst/>
          </a:prstGeom>
          <a:solidFill>
            <a:srgbClr val="F7F8FB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3657600"/>
            <a:ext cx="73152" cy="1783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3822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SE / SI / Q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4434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commands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4754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show all · show one · quit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64040" y="3657600"/>
            <a:ext cx="2240280" cy="1783080"/>
          </a:xfrm>
          <a:prstGeom prst="rect">
            <a:avLst/>
          </a:prstGeom>
          <a:solidFill>
            <a:srgbClr val="F7F8FB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64040" y="3657600"/>
            <a:ext cx="73152" cy="17830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382219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692640" y="4572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4892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keyboard  ⇄  scripted file (Test.txt)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Cooperating Packages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package owns a single concern. Main is the only orchestrator that talks to all four.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11680"/>
            <a:ext cx="2697480" cy="868680"/>
          </a:xfrm>
          <a:prstGeom prst="rect">
            <a:avLst/>
          </a:prstGeom>
          <a:solidFill>
            <a:srgbClr val="FDF3E7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21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«package»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+ I/O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menu loop, parses dates, and wraps Scanner with retry logic.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297680"/>
            <a:ext cx="2331720" cy="0"/>
          </a:xfrm>
          <a:prstGeom prst="line">
            <a:avLst/>
          </a:prstGeom>
          <a:noFill/>
          <a:ln w="9525">
            <a:solidFill>
              <a:srgbClr val="C9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6177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ValidationException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01168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011680"/>
            <a:ext cx="269748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121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«package»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322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catalogue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departments from disk and looks them up by name.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4297680"/>
            <a:ext cx="2331720" cy="0"/>
          </a:xfrm>
          <a:prstGeom prst="line">
            <a:avLst/>
          </a:prstGeom>
          <a:noFill/>
          <a:ln w="9525">
            <a:solidFill>
              <a:srgbClr val="1F6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46177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DepartmentsManager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01168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011680"/>
            <a:ext cx="2697480" cy="868680"/>
          </a:xfrm>
          <a:prstGeom prst="rect">
            <a:avLst/>
          </a:prstGeom>
          <a:solidFill>
            <a:srgbClr val="EAF6EE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121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«package»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322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550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model + scheduler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events, sorts them by start time, and detects clashes.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4297680"/>
            <a:ext cx="2331720" cy="0"/>
          </a:xfrm>
          <a:prstGeom prst="line">
            <a:avLst/>
          </a:prstGeom>
          <a:noFill/>
          <a:ln w="9525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46177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DateAndTime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EventManager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201168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52560" y="2011680"/>
            <a:ext cx="2697480" cy="868680"/>
          </a:xfrm>
          <a:prstGeom prst="rect">
            <a:avLst/>
          </a:prstGeom>
          <a:solidFill>
            <a:srgbClr val="F4ECF7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2121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«package»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5440" y="2322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23544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hierarchy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3544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Venue base + 4 concrete subclasses + a catalogue manager.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35440" y="4297680"/>
            <a:ext cx="2331720" cy="0"/>
          </a:xfrm>
          <a:prstGeom prst="line">
            <a:avLst/>
          </a:prstGeom>
          <a:noFill/>
          <a:ln w="9525">
            <a:solidFill>
              <a:srgbClr val="7D3C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35440" y="46177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3C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3C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ConferenceHall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3C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LectureHall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3C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SportArea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3C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PublicArea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3C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VenueManager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STATIC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pic>
        <p:nvPicPr>
          <p:cNvPr id="6" name="Image 0" descr="/home/claude/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674" y="1691640"/>
            <a:ext cx="7780172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</a:t>
            </a:r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▷ = inheritance · Dashed ▷ = implements · Open ◇ = aggregation · → = association · ⇢ = dependency.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24912" y="5824728"/>
            <a:ext cx="164592" cy="164592"/>
          </a:xfrm>
          <a:prstGeom prst="ellipse">
            <a:avLst/>
          </a:prstGeom>
          <a:solidFill>
            <a:srgbClr val="C97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53512" y="5760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43984" y="5824728"/>
            <a:ext cx="164592" cy="164592"/>
          </a:xfrm>
          <a:prstGeom prst="ellipse">
            <a:avLst/>
          </a:prstGeom>
          <a:solidFill>
            <a:srgbClr val="1F6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2584" y="5760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63056" y="5824728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91656" y="5760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82128" y="5824728"/>
            <a:ext cx="164592" cy="16459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10728" y="5760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OOP MASTERY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ICS 108 Concept, Mapped to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91640"/>
            <a:ext cx="73152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305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private/protected; access via getters such as Event.getName().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91640"/>
            <a:ext cx="73152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1051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1305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ConferenceHall · LectureHall · SportArea · PublicArea  extend  Venue.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862072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862072"/>
            <a:ext cx="73152" cy="1005840"/>
          </a:xfrm>
          <a:prstGeom prst="rect">
            <a:avLst/>
          </a:prstGeom>
          <a:solidFill>
            <a:srgbClr val="C97A1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809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3009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Venue, DepartmentsManager, and VenueManager are all abstract.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862072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2862072"/>
            <a:ext cx="73152" cy="10058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9809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3009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EventManager.showEvents iterates over Venue references; each subclass's toString is dispatched at runtime.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032504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4032504"/>
            <a:ext cx="73152" cy="1005840"/>
          </a:xfrm>
          <a:prstGeom prst="rect">
            <a:avLst/>
          </a:prstGeom>
          <a:solidFill>
            <a:srgbClr val="1F6FA8"/>
          </a:solidFill>
          <a:ln w="12700">
            <a:solidFill>
              <a:srgbClr val="1F6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5137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47141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implements Comparable&lt;Venue&gt;; DateAndTime implements Comparable&lt;DateAndTime&gt;.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032504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032504"/>
            <a:ext cx="73152" cy="1005840"/>
          </a:xfrm>
          <a:prstGeom prst="rect">
            <a:avLst/>
          </a:prstGeom>
          <a:solidFill>
            <a:srgbClr val="C97A1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15137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&amp; Overriding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47141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Input.nextInt() / nextInt(String); EventManager.showEventInfo(int) / showEventInfo(Event); every Venue subclass overrides toString.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202936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5202936"/>
            <a:ext cx="73152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2180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6418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ValidationException extends Exception — thrown by Venue.checkCapacity, DepartmentsManager.getDepartment.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5202936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5202936"/>
            <a:ext cx="73152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532180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+ Generics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56418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managers parse text files via Scanner + try-with-resources; ArrayList&lt;Venue&gt;, ArrayList&lt;Event&gt; used throughout.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CORE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 That Power the Scheduler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solidFill>
            <a:srgbClr val="F7F8FB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56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Insertion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EventManager.addEvent  —  always-sorted insertion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5029200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432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events.size(); i++)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(event.getStartDateAndTime()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.compareTo(events.get(i)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.getStartDateAndTime()) &lt; 0)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events.add(i, event);  return;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events.add(event);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list once, finds the first event that starts later than the new one, and inserts before it.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Collections.sort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34924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13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 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 insert  ·  O(1) per comparison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486400" cy="4572000"/>
          </a:xfrm>
          <a:prstGeom prst="rect">
            <a:avLst/>
          </a:prstGeom>
          <a:solidFill>
            <a:srgbClr val="F7F8FB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691640"/>
            <a:ext cx="73152" cy="4572000"/>
          </a:xfrm>
          <a:prstGeom prst="rect">
            <a:avLst/>
          </a:prstGeom>
          <a:solidFill>
            <a:srgbClr val="C97A1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856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Venue-Clash Detection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2194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EventManager.isFree  —  classic interval-overlap 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651760"/>
            <a:ext cx="5029200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7432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(Event ev : events)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(ev.end   &gt; other.start  &amp;&amp;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ev.start &lt; other.end    &amp;&amp;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ev.venue == other.venue)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9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true;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clash exists 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two events overlap in time 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share a venue.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534924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5513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 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Conflicting events are dropped, not overwritten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RESILIENCE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Defensive Programming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kind of failure is caught at the most useful place — no stack traces ever reach the user.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546604"/>
            <a:ext cx="164592" cy="164592"/>
          </a:xfrm>
          <a:prstGeom prst="ellipse">
            <a:avLst/>
          </a:prstGeom>
          <a:solidFill>
            <a:srgbClr val="C97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Input.next* methods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InputMismatchException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2377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Re-prompts; never bounces the menu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064240" cy="502920"/>
          </a:xfrm>
          <a:prstGeom prst="rect">
            <a:avLst/>
          </a:prstGeom>
          <a:solidFill>
            <a:srgbClr val="F8F9F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049524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DateAndTime  constructor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 or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IllegalArgumentException → Main retries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552444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 constructor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≥ 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IllegalArgumentException → Main retries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11064240" cy="502920"/>
          </a:xfrm>
          <a:prstGeom prst="rect">
            <a:avLst/>
          </a:prstGeom>
          <a:solidFill>
            <a:srgbClr val="F8F9F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055364"/>
            <a:ext cx="164592" cy="16459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Venue.checkCapacity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&gt; capacity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ValidationException → ask for another venue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58284"/>
            <a:ext cx="164592" cy="164592"/>
          </a:xfrm>
          <a:prstGeom prst="ellipse">
            <a:avLst/>
          </a:prstGeom>
          <a:solidFill>
            <a:srgbClr val="1F6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DepartmentsManager.getDepartment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department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ValidationException → ask again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solidFill>
            <a:srgbClr val="F8F9F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061204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892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EventManager.addEvent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Venue/time clash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4892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the new event with a console message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3949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564124"/>
            <a:ext cx="164592" cy="164592"/>
          </a:xfrm>
          <a:prstGeom prst="ellipse">
            <a:avLst/>
          </a:prstGeom>
          <a:solidFill>
            <a:srgbClr val="C97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loading (managers)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FileNotFoundException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5394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clean message instead of crashing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DUAL-MODE I/O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File-Driven  —  Same Binary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fileName in Main switches between live menus and a scripted run, making the project easy to grade.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0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4251960"/>
          </a:xfrm>
          <a:prstGeom prst="rect">
            <a:avLst/>
          </a:prstGeom>
          <a:solidFill>
            <a:srgbClr val="C97A1F"/>
          </a:solidFill>
          <a:ln w="12700">
            <a:solidFill>
              <a:srgbClr val="C97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76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keyboard input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shown after every command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re-prompted on error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departments, types, venues are listed for the user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showPrompts = 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892040"/>
            <a:ext cx="5029200" cy="1188720"/>
          </a:xfrm>
          <a:prstGeom prst="rect">
            <a:avLst/>
          </a:prstGeom>
          <a:solidFill>
            <a:srgbClr val="1B1F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Enter: "C" to create a new event!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Enter: "Q" to quit the program.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"SE" to show the events.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the Name of the Event: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011680"/>
            <a:ext cx="548640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201168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76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Scripted, reproducible runs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input from Test.txt instead of System.in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suppressed for clean output capture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automatically if the file is missing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Input.setSource(new Scanner(file))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4892040"/>
            <a:ext cx="5029200" cy="1188720"/>
          </a:xfrm>
          <a:prstGeom prst="rect">
            <a:avLst/>
          </a:prstGeom>
          <a:solidFill>
            <a:srgbClr val="1B1F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Aramco Football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           </a:t>
            </a:r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A8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Sport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1 1 2000             </a:t>
            </a:r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A8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start date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  •  ICS 108  •  KFUPM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457200" cy="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2724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in-memory event list back to disk on Q so events survive between runs.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1828800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690872" y="2670048"/>
            <a:ext cx="457200" cy="0"/>
          </a:xfrm>
          <a:prstGeom prst="line">
            <a:avLst/>
          </a:prstGeom>
          <a:noFill/>
          <a:ln w="19050">
            <a:solidFill>
              <a:srgbClr val="C9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Delete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5152" y="312724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 &lt;index&gt; to remove events and a name-substring search command.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84464" y="1828800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13064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558784" y="2670048"/>
            <a:ext cx="45720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3064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Inserts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13064" y="312724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linear-scan insertion with a TreeSet keyed on start time → O(log n).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50792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2336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457200" cy="0"/>
          </a:xfrm>
          <a:prstGeom prst="line">
            <a:avLst/>
          </a:prstGeom>
          <a:noFill/>
          <a:ln w="19050">
            <a:solidFill>
              <a:srgbClr val="1F6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651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Per-Department Venues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3492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department load its own preferred-venues list from a config file.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16552" y="4050792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45152" y="42336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690872" y="4892040"/>
            <a:ext cx="457200" cy="0"/>
          </a:xfrm>
          <a:prstGeom prst="line">
            <a:avLst/>
          </a:prstGeom>
          <a:noFill/>
          <a:ln w="19050">
            <a:solidFill>
              <a:srgbClr val="C97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9651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 Suite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45152" y="53492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 DateAndTime validation, EventManager.isFree, and Venue.checkCapacity.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84464" y="4050792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13064" y="42336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8558784" y="4892040"/>
            <a:ext cx="457200" cy="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13064" y="49651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Localisation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13064" y="53492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menu strings in a Messages bundle so the program runs in EN or 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532120" y="3108960"/>
            <a:ext cx="1097280" cy="54864"/>
          </a:xfrm>
          <a:prstGeom prst="rect">
            <a:avLst/>
          </a:prstGeom>
          <a:solidFill>
            <a:srgbClr val="C97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37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5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Bader's Event Management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108  •  Object-Oriented Programming in Java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525780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Fahd University of Petroleum and Minerals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63093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300" kern="0" dirty="0">
                <a:solidFill>
                  <a:srgbClr val="C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4 packages  ·  14 classes  ·  built and documented end-to-end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Bader's Event Management System — ICS 108</dc:title>
  <dc:subject>PptxGenJS Presentation</dc:subject>
  <dc:creator>Badercodes</dc:creator>
  <cp:lastModifiedBy>Badercodes</cp:lastModifiedBy>
  <cp:revision>1</cp:revision>
  <dcterms:created xsi:type="dcterms:W3CDTF">2026-05-03T09:20:20Z</dcterms:created>
  <dcterms:modified xsi:type="dcterms:W3CDTF">2026-05-03T09:20:20Z</dcterms:modified>
</cp:coreProperties>
</file>